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2" r:id="rId4"/>
    <p:sldId id="263" r:id="rId5"/>
    <p:sldId id="264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F52A59-AC1B-438A-878D-8291B0A4CCEF}" v="39" dt="2026-01-25T03:25:27.5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 snapToObjects="1">
      <p:cViewPr varScale="1">
        <p:scale>
          <a:sx n="98" d="100"/>
          <a:sy n="98" d="100"/>
        </p:scale>
        <p:origin x="1974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rge tchuenteu" userId="8300444c1fcdfdd4" providerId="LiveId" clId="{7F35B771-F38F-4425-B485-FB3255619134}"/>
    <pc:docChg chg="undo custSel addSld delSld modSld sldOrd">
      <pc:chgData name="serge tchuenteu" userId="8300444c1fcdfdd4" providerId="LiveId" clId="{7F35B771-F38F-4425-B485-FB3255619134}" dt="2026-01-25T03:28:09.982" v="773" actId="47"/>
      <pc:docMkLst>
        <pc:docMk/>
      </pc:docMkLst>
      <pc:sldChg chg="del">
        <pc:chgData name="serge tchuenteu" userId="8300444c1fcdfdd4" providerId="LiveId" clId="{7F35B771-F38F-4425-B485-FB3255619134}" dt="2026-01-25T03:28:09.982" v="773" actId="47"/>
        <pc:sldMkLst>
          <pc:docMk/>
          <pc:sldMk cId="0" sldId="257"/>
        </pc:sldMkLst>
      </pc:sldChg>
      <pc:sldChg chg="addSp delSp modSp mod">
        <pc:chgData name="serge tchuenteu" userId="8300444c1fcdfdd4" providerId="LiveId" clId="{7F35B771-F38F-4425-B485-FB3255619134}" dt="2026-01-25T02:10:56.451" v="303" actId="27636"/>
        <pc:sldMkLst>
          <pc:docMk/>
          <pc:sldMk cId="0" sldId="258"/>
        </pc:sldMkLst>
        <pc:spChg chg="del mod">
          <ac:chgData name="serge tchuenteu" userId="8300444c1fcdfdd4" providerId="LiveId" clId="{7F35B771-F38F-4425-B485-FB3255619134}" dt="2026-01-25T01:01:46.158" v="99" actId="478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serge tchuenteu" userId="8300444c1fcdfdd4" providerId="LiveId" clId="{7F35B771-F38F-4425-B485-FB3255619134}" dt="2026-01-25T00:54:23.463" v="6" actId="478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serge tchuenteu" userId="8300444c1fcdfdd4" providerId="LiveId" clId="{7F35B771-F38F-4425-B485-FB3255619134}" dt="2026-01-25T02:10:56.451" v="303" actId="27636"/>
          <ac:spMkLst>
            <pc:docMk/>
            <pc:sldMk cId="0" sldId="258"/>
            <ac:spMk id="4" creationId="{78811860-BFF7-7948-78D2-6F11959AC40C}"/>
          </ac:spMkLst>
        </pc:spChg>
        <pc:spChg chg="add del mod">
          <ac:chgData name="serge tchuenteu" userId="8300444c1fcdfdd4" providerId="LiveId" clId="{7F35B771-F38F-4425-B485-FB3255619134}" dt="2026-01-25T01:01:50.482" v="100" actId="478"/>
          <ac:spMkLst>
            <pc:docMk/>
            <pc:sldMk cId="0" sldId="258"/>
            <ac:spMk id="6" creationId="{65E4CFF8-B2AB-A7AC-82EF-038CE3BD2841}"/>
          </ac:spMkLst>
        </pc:spChg>
        <pc:spChg chg="add mod">
          <ac:chgData name="serge tchuenteu" userId="8300444c1fcdfdd4" providerId="LiveId" clId="{7F35B771-F38F-4425-B485-FB3255619134}" dt="2026-01-25T02:06:31.228" v="263" actId="20577"/>
          <ac:spMkLst>
            <pc:docMk/>
            <pc:sldMk cId="0" sldId="258"/>
            <ac:spMk id="7" creationId="{34C3C2E0-1DDC-24C2-B162-6B3F9D3B1B3E}"/>
          </ac:spMkLst>
        </pc:spChg>
        <pc:spChg chg="add mod">
          <ac:chgData name="serge tchuenteu" userId="8300444c1fcdfdd4" providerId="LiveId" clId="{7F35B771-F38F-4425-B485-FB3255619134}" dt="2026-01-25T02:10:23.102" v="297" actId="207"/>
          <ac:spMkLst>
            <pc:docMk/>
            <pc:sldMk cId="0" sldId="258"/>
            <ac:spMk id="8" creationId="{C05D874A-D110-5E34-BCA5-A0F947E11AA2}"/>
          </ac:spMkLst>
        </pc:spChg>
        <pc:spChg chg="add mod">
          <ac:chgData name="serge tchuenteu" userId="8300444c1fcdfdd4" providerId="LiveId" clId="{7F35B771-F38F-4425-B485-FB3255619134}" dt="2026-01-25T02:08:28.971" v="275" actId="1076"/>
          <ac:spMkLst>
            <pc:docMk/>
            <pc:sldMk cId="0" sldId="258"/>
            <ac:spMk id="10" creationId="{67A697F0-FE59-128F-C390-D2C32EF25696}"/>
          </ac:spMkLst>
        </pc:spChg>
        <pc:spChg chg="add mod">
          <ac:chgData name="serge tchuenteu" userId="8300444c1fcdfdd4" providerId="LiveId" clId="{7F35B771-F38F-4425-B485-FB3255619134}" dt="2026-01-25T02:10:15.578" v="296" actId="207"/>
          <ac:spMkLst>
            <pc:docMk/>
            <pc:sldMk cId="0" sldId="258"/>
            <ac:spMk id="12" creationId="{D2BCD38E-A5B1-AFA6-7F7C-010DB0C16221}"/>
          </ac:spMkLst>
        </pc:spChg>
        <pc:graphicFrameChg chg="add mod modGraphic">
          <ac:chgData name="serge tchuenteu" userId="8300444c1fcdfdd4" providerId="LiveId" clId="{7F35B771-F38F-4425-B485-FB3255619134}" dt="2026-01-25T02:09:26.265" v="290" actId="20577"/>
          <ac:graphicFrameMkLst>
            <pc:docMk/>
            <pc:sldMk cId="0" sldId="258"/>
            <ac:graphicFrameMk id="11" creationId="{148474CF-AEB7-3D0E-5AE1-72557640181C}"/>
          </ac:graphicFrameMkLst>
        </pc:graphicFrameChg>
      </pc:sldChg>
      <pc:sldChg chg="del">
        <pc:chgData name="serge tchuenteu" userId="8300444c1fcdfdd4" providerId="LiveId" clId="{7F35B771-F38F-4425-B485-FB3255619134}" dt="2026-01-25T01:35:33.093" v="193" actId="47"/>
        <pc:sldMkLst>
          <pc:docMk/>
          <pc:sldMk cId="0" sldId="259"/>
        </pc:sldMkLst>
      </pc:sldChg>
      <pc:sldChg chg="del">
        <pc:chgData name="serge tchuenteu" userId="8300444c1fcdfdd4" providerId="LiveId" clId="{7F35B771-F38F-4425-B485-FB3255619134}" dt="2026-01-25T03:19:53.484" v="595" actId="47"/>
        <pc:sldMkLst>
          <pc:docMk/>
          <pc:sldMk cId="0" sldId="260"/>
        </pc:sldMkLst>
      </pc:sldChg>
      <pc:sldChg chg="del">
        <pc:chgData name="serge tchuenteu" userId="8300444c1fcdfdd4" providerId="LiveId" clId="{7F35B771-F38F-4425-B485-FB3255619134}" dt="2026-01-25T03:19:57.701" v="596" actId="47"/>
        <pc:sldMkLst>
          <pc:docMk/>
          <pc:sldMk cId="0" sldId="261"/>
        </pc:sldMkLst>
      </pc:sldChg>
      <pc:sldChg chg="addSp modSp new mod ord">
        <pc:chgData name="serge tchuenteu" userId="8300444c1fcdfdd4" providerId="LiveId" clId="{7F35B771-F38F-4425-B485-FB3255619134}" dt="2026-01-25T03:27:20.659" v="772" actId="207"/>
        <pc:sldMkLst>
          <pc:docMk/>
          <pc:sldMk cId="3610539979" sldId="262"/>
        </pc:sldMkLst>
        <pc:spChg chg="add mod">
          <ac:chgData name="serge tchuenteu" userId="8300444c1fcdfdd4" providerId="LiveId" clId="{7F35B771-F38F-4425-B485-FB3255619134}" dt="2026-01-25T03:27:20.659" v="772" actId="207"/>
          <ac:spMkLst>
            <pc:docMk/>
            <pc:sldMk cId="3610539979" sldId="262"/>
            <ac:spMk id="2" creationId="{B8AB3ED2-67E6-7C01-6CB6-D44FF19AFE9E}"/>
          </ac:spMkLst>
        </pc:spChg>
      </pc:sldChg>
      <pc:sldChg chg="addSp delSp modSp new mod">
        <pc:chgData name="serge tchuenteu" userId="8300444c1fcdfdd4" providerId="LiveId" clId="{7F35B771-F38F-4425-B485-FB3255619134}" dt="2026-01-25T03:25:59.579" v="683" actId="115"/>
        <pc:sldMkLst>
          <pc:docMk/>
          <pc:sldMk cId="2897582679" sldId="263"/>
        </pc:sldMkLst>
        <pc:spChg chg="add mod">
          <ac:chgData name="serge tchuenteu" userId="8300444c1fcdfdd4" providerId="LiveId" clId="{7F35B771-F38F-4425-B485-FB3255619134}" dt="2026-01-25T02:24:11.454" v="523" actId="207"/>
          <ac:spMkLst>
            <pc:docMk/>
            <pc:sldMk cId="2897582679" sldId="263"/>
            <ac:spMk id="3" creationId="{12D867E2-F34D-8024-06FA-28A1F3D509D8}"/>
          </ac:spMkLst>
        </pc:spChg>
        <pc:graphicFrameChg chg="add mod modGraphic">
          <ac:chgData name="serge tchuenteu" userId="8300444c1fcdfdd4" providerId="LiveId" clId="{7F35B771-F38F-4425-B485-FB3255619134}" dt="2026-01-25T03:25:59.579" v="683" actId="115"/>
          <ac:graphicFrameMkLst>
            <pc:docMk/>
            <pc:sldMk cId="2897582679" sldId="263"/>
            <ac:graphicFrameMk id="4" creationId="{C186A9C4-BABA-7111-5E4A-9BF0B5821339}"/>
          </ac:graphicFrameMkLst>
        </pc:graphicFrameChg>
        <pc:graphicFrameChg chg="add del mod">
          <ac:chgData name="serge tchuenteu" userId="8300444c1fcdfdd4" providerId="LiveId" clId="{7F35B771-F38F-4425-B485-FB3255619134}" dt="2026-01-25T02:24:32.323" v="529" actId="478"/>
          <ac:graphicFrameMkLst>
            <pc:docMk/>
            <pc:sldMk cId="2897582679" sldId="263"/>
            <ac:graphicFrameMk id="5" creationId="{95A6004D-1A1D-646E-D332-88B5BE655279}"/>
          </ac:graphicFrameMkLst>
        </pc:graphicFrameChg>
        <pc:graphicFrameChg chg="add del mod modGraphic">
          <ac:chgData name="serge tchuenteu" userId="8300444c1fcdfdd4" providerId="LiveId" clId="{7F35B771-F38F-4425-B485-FB3255619134}" dt="2026-01-25T02:24:19.625" v="525" actId="478"/>
          <ac:graphicFrameMkLst>
            <pc:docMk/>
            <pc:sldMk cId="2897582679" sldId="263"/>
            <ac:graphicFrameMk id="6" creationId="{253C404A-6A93-332A-2490-E878BFD5A8DC}"/>
          </ac:graphicFrameMkLst>
        </pc:graphicFrameChg>
      </pc:sldChg>
      <pc:sldChg chg="addSp delSp modSp new mod">
        <pc:chgData name="serge tchuenteu" userId="8300444c1fcdfdd4" providerId="LiveId" clId="{7F35B771-F38F-4425-B485-FB3255619134}" dt="2026-01-25T03:25:29.087" v="681" actId="5793"/>
        <pc:sldMkLst>
          <pc:docMk/>
          <pc:sldMk cId="159869085" sldId="264"/>
        </pc:sldMkLst>
        <pc:spChg chg="add mod">
          <ac:chgData name="serge tchuenteu" userId="8300444c1fcdfdd4" providerId="LiveId" clId="{7F35B771-F38F-4425-B485-FB3255619134}" dt="2026-01-25T03:24:53.002" v="666" actId="14100"/>
          <ac:spMkLst>
            <pc:docMk/>
            <pc:sldMk cId="159869085" sldId="264"/>
            <ac:spMk id="3" creationId="{0290AF21-6BFB-CB47-0AC2-0B82614A43A1}"/>
          </ac:spMkLst>
        </pc:spChg>
        <pc:spChg chg="add del mod">
          <ac:chgData name="serge tchuenteu" userId="8300444c1fcdfdd4" providerId="LiveId" clId="{7F35B771-F38F-4425-B485-FB3255619134}" dt="2026-01-25T03:22:37.185" v="610" actId="478"/>
          <ac:spMkLst>
            <pc:docMk/>
            <pc:sldMk cId="159869085" sldId="264"/>
            <ac:spMk id="5" creationId="{99AA67F7-8DD7-F386-29BC-58C189BC9830}"/>
          </ac:spMkLst>
        </pc:spChg>
        <pc:spChg chg="add mod">
          <ac:chgData name="serge tchuenteu" userId="8300444c1fcdfdd4" providerId="LiveId" clId="{7F35B771-F38F-4425-B485-FB3255619134}" dt="2026-01-25T03:25:29.087" v="681" actId="5793"/>
          <ac:spMkLst>
            <pc:docMk/>
            <pc:sldMk cId="159869085" sldId="264"/>
            <ac:spMk id="7" creationId="{681D4F02-15D9-8CFC-F00F-0274F285BED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8641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“We start from the principle that HR data is high-risk by default, so protection is enforced directly at the database layer. There is no default or open access.</a:t>
            </a:r>
          </a:p>
          <a:p>
            <a:pPr>
              <a:buNone/>
            </a:pPr>
            <a:r>
              <a:rPr lang="en-US" dirty="0"/>
              <a:t>From an access perspective, we’ve already established the foundation by creating Active Directory groups for each team. These groups align access to job function and will directly support full Role-Based Access Control.</a:t>
            </a:r>
          </a:p>
          <a:p>
            <a:pPr>
              <a:buNone/>
            </a:pPr>
            <a:r>
              <a:rPr lang="en-US" dirty="0"/>
              <a:t>RBAC is currently being implemented, starting in our DEV and QA environments, and we’re being transparent about that.”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HR data is protected differently by environment.</a:t>
            </a:r>
          </a:p>
          <a:p>
            <a:r>
              <a:t>In DEV and QA, we use static masking so real HR data does not exist.</a:t>
            </a:r>
          </a:p>
          <a:p>
            <a:r>
              <a:t>We also added a trigger that automatically masks any new HR data inserted into DEV.</a:t>
            </a:r>
          </a:p>
          <a:p>
            <a:r>
              <a:t>In PROD, dynamic masking ensures users only see what they are authorized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sz="4100" dirty="0">
                <a:solidFill>
                  <a:srgbClr val="FFFFFF"/>
                </a:solidFill>
              </a:rPr>
              <a:t>HR Data Protection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700" b="1" dirty="0"/>
              <a:t>Security by Design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700" dirty="0"/>
              <a:t>HR data treated as high-risk by default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700" dirty="0"/>
              <a:t>Protection enforced at the database layer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700" dirty="0"/>
              <a:t>No default access</a:t>
            </a:r>
          </a:p>
          <a:p>
            <a:pPr>
              <a:lnSpc>
                <a:spcPct val="90000"/>
              </a:lnSpc>
              <a:buNone/>
            </a:pPr>
            <a:r>
              <a:rPr lang="en-US" sz="2700" b="1" dirty="0"/>
              <a:t>Access Foundation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700" dirty="0"/>
              <a:t>Team-based Active Directory (AD) groups created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700" dirty="0"/>
              <a:t>Access aligned to job function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700" dirty="0"/>
              <a:t>Foundation for RBAC (in progress in DEV &amp; QA)</a:t>
            </a:r>
          </a:p>
          <a:p>
            <a:pPr>
              <a:lnSpc>
                <a:spcPct val="90000"/>
              </a:lnSpc>
            </a:pPr>
            <a:endParaRPr lang="en-US" sz="2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811860-BFF7-7948-78D2-6F11959AC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651" y="3572444"/>
            <a:ext cx="8229600" cy="3168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                     </a:t>
            </a:r>
            <a:r>
              <a:rPr kumimoji="0" lang="en-US" sz="22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Column-Level Security (Masking)</a:t>
            </a:r>
            <a:endParaRPr lang="en-US" sz="2200" b="1" u="sng" dirty="0">
              <a:solidFill>
                <a:srgbClr val="FF0000"/>
              </a:solidFill>
            </a:endParaRPr>
          </a:p>
          <a:p>
            <a:r>
              <a:rPr lang="en-US" sz="2400" b="1" dirty="0"/>
              <a:t>🔹</a:t>
            </a:r>
            <a:r>
              <a:rPr lang="en-US" b="1" dirty="0"/>
              <a:t> </a:t>
            </a:r>
            <a:r>
              <a:rPr lang="en-US" sz="2400" b="1" u="sng" dirty="0"/>
              <a:t>Production</a:t>
            </a:r>
          </a:p>
          <a:p>
            <a:r>
              <a:rPr lang="en-US" sz="1800" dirty="0"/>
              <a:t>Dynamic Data Masking (DDM)</a:t>
            </a:r>
          </a:p>
          <a:p>
            <a:r>
              <a:rPr lang="en-US" sz="1800" dirty="0"/>
              <a:t>SSN shows as XXX-XX-1234</a:t>
            </a:r>
          </a:p>
          <a:p>
            <a:r>
              <a:rPr lang="en-US" sz="1800" dirty="0"/>
              <a:t>Only </a:t>
            </a:r>
            <a:r>
              <a:rPr lang="en-US" sz="1800" b="1" dirty="0"/>
              <a:t>approved HR roles</a:t>
            </a:r>
            <a:r>
              <a:rPr lang="en-US" sz="1800" dirty="0"/>
              <a:t> can see full values</a:t>
            </a:r>
          </a:p>
          <a:p>
            <a:r>
              <a:rPr lang="en-US" sz="1800" b="1" dirty="0"/>
              <a:t>🔹 </a:t>
            </a:r>
            <a:r>
              <a:rPr lang="en-US" sz="2000" b="1" u="sng" dirty="0"/>
              <a:t>Non-Prod (DEV / QA)</a:t>
            </a:r>
          </a:p>
          <a:p>
            <a:r>
              <a:rPr lang="en-US" sz="1800" dirty="0"/>
              <a:t>Static masking</a:t>
            </a:r>
          </a:p>
          <a:p>
            <a:r>
              <a:rPr lang="en-US" sz="1800" dirty="0"/>
              <a:t>Real SSNs never exist outside Prod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C3C2E0-1DDC-24C2-B162-6B3F9D3B1B3E}"/>
              </a:ext>
            </a:extLst>
          </p:cNvPr>
          <p:cNvSpPr txBox="1">
            <a:spLocks/>
          </p:cNvSpPr>
          <p:nvPr/>
        </p:nvSpPr>
        <p:spPr>
          <a:xfrm>
            <a:off x="-71645" y="685412"/>
            <a:ext cx="8229600" cy="29863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dirty="0"/>
          </a:p>
          <a:p>
            <a:pPr marL="0" indent="0">
              <a:buFont typeface="Arial"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05D874A-D110-5E34-BCA5-A0F947E11AA2}"/>
              </a:ext>
            </a:extLst>
          </p:cNvPr>
          <p:cNvSpPr txBox="1">
            <a:spLocks/>
          </p:cNvSpPr>
          <p:nvPr/>
        </p:nvSpPr>
        <p:spPr>
          <a:xfrm>
            <a:off x="1930400" y="-143326"/>
            <a:ext cx="6052457" cy="642256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dirty="0"/>
          </a:p>
          <a:p>
            <a:pPr marL="0" indent="0">
              <a:buFont typeface="Arial"/>
              <a:buNone/>
            </a:pPr>
            <a:endParaRPr lang="en-US" dirty="0"/>
          </a:p>
          <a:p>
            <a:r>
              <a:rPr lang="en-US" sz="12800" dirty="0"/>
              <a:t>What we already implemented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7A697F0-FE59-128F-C390-D2C32EF25696}"/>
              </a:ext>
            </a:extLst>
          </p:cNvPr>
          <p:cNvSpPr txBox="1"/>
          <p:nvPr/>
        </p:nvSpPr>
        <p:spPr>
          <a:xfrm>
            <a:off x="1557083" y="560425"/>
            <a:ext cx="46060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Role-Based Access Control (RBAC)</a:t>
            </a:r>
          </a:p>
          <a:p>
            <a:endParaRPr lang="en-US" b="1" u="sng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148474CF-AEB7-3D0E-5AE1-725576401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900829"/>
              </p:ext>
            </p:extLst>
          </p:nvPr>
        </p:nvGraphicFramePr>
        <p:xfrm>
          <a:off x="544749" y="1344869"/>
          <a:ext cx="8229600" cy="210312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47212917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35331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  <a:p>
                      <a:pPr>
                        <a:buNone/>
                      </a:pPr>
                      <a:r>
                        <a:rPr lang="en-US" dirty="0"/>
                        <a:t>Role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Access 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8300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HR_Execs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Read-only, high-level HR views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732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HR_Ops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Read/write operational HR tables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1427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Finance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Financial columns only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603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Admin / support (no business PHI use)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3413020"/>
                  </a:ext>
                </a:extLst>
              </a:tr>
            </a:tbl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2BCD38E-A5B1-AFA6-7F7C-010DB0C16221}"/>
              </a:ext>
            </a:extLst>
          </p:cNvPr>
          <p:cNvSpPr txBox="1">
            <a:spLocks/>
          </p:cNvSpPr>
          <p:nvPr/>
        </p:nvSpPr>
        <p:spPr>
          <a:xfrm>
            <a:off x="369651" y="902994"/>
            <a:ext cx="8118272" cy="642256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Font typeface="Arial"/>
              <a:buNone/>
            </a:pPr>
            <a:endParaRPr lang="en-US" dirty="0">
              <a:solidFill>
                <a:srgbClr val="0070C0"/>
              </a:solidFill>
            </a:endParaRPr>
          </a:p>
          <a:p>
            <a:r>
              <a:rPr lang="en-US" sz="7200" dirty="0">
                <a:solidFill>
                  <a:srgbClr val="0070C0"/>
                </a:solidFill>
              </a:rPr>
              <a:t>We implement </a:t>
            </a:r>
            <a:r>
              <a:rPr lang="en-US" sz="7200" b="1" dirty="0">
                <a:solidFill>
                  <a:srgbClr val="0070C0"/>
                </a:solidFill>
              </a:rPr>
              <a:t>role separation using AD groups</a:t>
            </a:r>
            <a:r>
              <a:rPr lang="en-US" sz="7200" dirty="0">
                <a:solidFill>
                  <a:srgbClr val="0070C0"/>
                </a:solidFill>
              </a:rPr>
              <a:t>, not individual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8AB3ED2-67E6-7C01-6CB6-D44FF19AFE9E}"/>
              </a:ext>
            </a:extLst>
          </p:cNvPr>
          <p:cNvSpPr txBox="1">
            <a:spLocks/>
          </p:cNvSpPr>
          <p:nvPr/>
        </p:nvSpPr>
        <p:spPr>
          <a:xfrm>
            <a:off x="68094" y="289281"/>
            <a:ext cx="8793804" cy="5498676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600" dirty="0">
                <a:solidFill>
                  <a:prstClr val="black"/>
                </a:solidFill>
                <a:latin typeface="Calibri"/>
                <a:ea typeface="+mj-ea"/>
                <a:cs typeface="+mj-cs"/>
              </a:rPr>
              <a:t>                                  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600" dirty="0">
                <a:solidFill>
                  <a:prstClr val="black"/>
                </a:solidFill>
                <a:latin typeface="Calibri"/>
                <a:ea typeface="+mj-ea"/>
                <a:cs typeface="+mj-cs"/>
              </a:rPr>
              <a:t>                                                                                 </a:t>
            </a:r>
            <a:r>
              <a:rPr lang="en-US" sz="3800" b="1" dirty="0">
                <a:solidFill>
                  <a:prstClr val="black"/>
                </a:solidFill>
                <a:latin typeface="Calibri"/>
                <a:ea typeface="+mj-ea"/>
                <a:cs typeface="+mj-cs"/>
              </a:rPr>
              <a:t>  </a:t>
            </a:r>
            <a:r>
              <a:rPr lang="en-US" sz="3800" b="1" dirty="0">
                <a:solidFill>
                  <a:srgbClr val="FF0000"/>
                </a:solidFill>
                <a:latin typeface="Calibri"/>
                <a:ea typeface="+mj-ea"/>
                <a:cs typeface="+mj-cs"/>
              </a:rPr>
              <a:t>Audit &amp; Compliance Logging 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u="sng" dirty="0">
                <a:solidFill>
                  <a:schemeClr val="accent1">
                    <a:lumMod val="75000"/>
                  </a:schemeClr>
                </a:solidFill>
                <a:latin typeface="Calibri"/>
                <a:ea typeface="+mj-ea"/>
                <a:cs typeface="+mj-cs"/>
              </a:rPr>
              <a:t>What we have implement</a:t>
            </a:r>
            <a:br>
              <a:rPr lang="en-US" sz="3800" b="1" u="sng" dirty="0">
                <a:solidFill>
                  <a:srgbClr val="FF0000"/>
                </a:solidFill>
                <a:latin typeface="Calibri"/>
                <a:ea typeface="+mj-ea"/>
                <a:cs typeface="+mj-cs"/>
              </a:rPr>
            </a:br>
            <a:r>
              <a:rPr lang="en-US" sz="3800" b="1" u="sng" dirty="0">
                <a:solidFill>
                  <a:srgbClr val="FF0000"/>
                </a:solidFill>
                <a:latin typeface="Calibri"/>
                <a:ea typeface="+mj-ea"/>
                <a:cs typeface="+mj-cs"/>
              </a:rPr>
              <a:t>   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4000" b="1" dirty="0"/>
              <a:t>PHI SELECT auditing</a:t>
            </a:r>
            <a:r>
              <a:rPr lang="en-US" sz="4000" dirty="0"/>
              <a:t> on targeted objects (who, what, when, where,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4000" b="1" dirty="0"/>
              <a:t>WHERE-sensitive detection</a:t>
            </a:r>
            <a:r>
              <a:rPr lang="en-US" sz="4000" dirty="0"/>
              <a:t> (SSN/DOB/Email/Phone/DEA) with severity scoring.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4000" b="1" dirty="0"/>
              <a:t>Export intent detection</a:t>
            </a:r>
            <a:r>
              <a:rPr lang="en-US" sz="4000" dirty="0"/>
              <a:t> (SELECT *, SELECT INTO, OPENROWSET, bulk patterns) flagged as </a:t>
            </a:r>
            <a:r>
              <a:rPr lang="en-US" sz="4000" b="1" dirty="0"/>
              <a:t>POTENTIAL_EXPORT</a:t>
            </a:r>
            <a:r>
              <a:rPr lang="en-US" sz="4000" dirty="0"/>
              <a:t>.</a:t>
            </a:r>
            <a:br>
              <a:rPr lang="en-US" sz="4000" dirty="0"/>
            </a:br>
            <a:r>
              <a:rPr lang="en-US" sz="4000" b="1" dirty="0"/>
              <a:t>Tech vs Business separation</a:t>
            </a:r>
            <a:r>
              <a:rPr lang="en-US" sz="4000" dirty="0"/>
              <a:t> using AD group membership in every alert and report.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4000" b="1" dirty="0"/>
              <a:t>PROD guardrails</a:t>
            </a:r>
            <a:r>
              <a:rPr lang="en-US" sz="4000" dirty="0"/>
              <a:t>: restrict bulk export privileges and dangerous features.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3800" b="1" u="sng" dirty="0">
              <a:solidFill>
                <a:srgbClr val="FF0000"/>
              </a:solidFill>
              <a:latin typeface="Calibri"/>
              <a:ea typeface="+mj-ea"/>
              <a:cs typeface="+mj-cs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u="sng" dirty="0">
                <a:solidFill>
                  <a:schemeClr val="accent1">
                    <a:lumMod val="75000"/>
                  </a:schemeClr>
                </a:solidFill>
                <a:latin typeface="Calibri"/>
                <a:ea typeface="+mj-ea"/>
                <a:cs typeface="+mj-cs"/>
              </a:rPr>
              <a:t>How this matter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en-US" sz="2600" dirty="0"/>
              <a:t>Detect and deter attempts to extract large volumes of sensitive data from PROD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en-US" sz="2800" dirty="0"/>
              <a:t>Reduce risk of data being shared outside approved channels.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en-US" sz="2800" dirty="0"/>
              <a:t>Prevent database-native export features from being used by non-approved accounts.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en-US" sz="2800" dirty="0"/>
              <a:t>Minimize what users can retrieve even if they query frequently.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en-US" sz="2800" dirty="0"/>
              <a:t>Alert not only on access, but on suspicious behavior patterns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en-US" sz="2800" dirty="0"/>
              <a:t>Ensure the controls are repeatable, controlled, and provable to auditors.</a:t>
            </a:r>
            <a:endParaRPr lang="en-US" sz="2600" b="1" u="sng" dirty="0">
              <a:solidFill>
                <a:srgbClr val="FF0000"/>
              </a:solidFill>
              <a:latin typeface="Calibri"/>
              <a:ea typeface="+mj-ea"/>
              <a:cs typeface="+mj-cs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3800" b="1" u="sng" dirty="0">
              <a:solidFill>
                <a:srgbClr val="FF0000"/>
              </a:solidFill>
              <a:latin typeface="Calibri"/>
              <a:ea typeface="+mj-ea"/>
              <a:cs typeface="+mj-cs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3800" b="1" u="sng" dirty="0">
              <a:solidFill>
                <a:srgbClr val="FF0000"/>
              </a:solidFill>
              <a:latin typeface="Calibri"/>
              <a:ea typeface="+mj-ea"/>
              <a:cs typeface="+mj-cs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3800" b="1" u="sng" dirty="0">
              <a:solidFill>
                <a:srgbClr val="FF0000"/>
              </a:solidFill>
              <a:latin typeface="Calibri"/>
              <a:ea typeface="+mj-ea"/>
              <a:cs typeface="+mj-cs"/>
            </a:endParaRPr>
          </a:p>
          <a:p>
            <a:pPr marL="0" indent="0">
              <a:lnSpc>
                <a:spcPct val="110000"/>
              </a:lnSpc>
              <a:buNone/>
            </a:pPr>
            <a:endParaRPr lang="en-US" sz="3800" b="1" u="sng" dirty="0">
              <a:solidFill>
                <a:srgbClr val="FF0000"/>
              </a:solidFill>
              <a:latin typeface="Calibri"/>
              <a:ea typeface="+mj-ea"/>
              <a:cs typeface="+mj-cs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 marL="0" indent="0">
              <a:buFont typeface="Arial"/>
              <a:buNone/>
            </a:pPr>
            <a:endParaRPr lang="en-US" dirty="0"/>
          </a:p>
          <a:p>
            <a:pPr marL="0" indent="0">
              <a:buFont typeface="Arial"/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539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12D867E2-F34D-8024-06FA-28A1F3D509D8}"/>
              </a:ext>
            </a:extLst>
          </p:cNvPr>
          <p:cNvSpPr txBox="1"/>
          <p:nvPr/>
        </p:nvSpPr>
        <p:spPr>
          <a:xfrm>
            <a:off x="457200" y="217678"/>
            <a:ext cx="85117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     </a:t>
            </a:r>
            <a:r>
              <a:rPr lang="en-US" b="1" u="sng" dirty="0">
                <a:solidFill>
                  <a:srgbClr val="FF0000"/>
                </a:solidFill>
              </a:rPr>
              <a:t>DATA LOSS PREVENTION(DLP)</a:t>
            </a:r>
          </a:p>
          <a:p>
            <a:endParaRPr lang="en-US" dirty="0"/>
          </a:p>
          <a:p>
            <a:r>
              <a:rPr lang="en-US" dirty="0"/>
              <a:t>We prevent data leakage using layered controls.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u="sng" dirty="0">
                <a:solidFill>
                  <a:srgbClr val="0070C0"/>
                </a:solidFill>
              </a:rPr>
              <a:t>In non-production, </a:t>
            </a:r>
          </a:p>
          <a:p>
            <a:r>
              <a:rPr lang="en-US" dirty="0"/>
              <a:t>       Data is statically masked, so leakage risk is eliminated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u="sng" dirty="0">
                <a:solidFill>
                  <a:srgbClr val="0070C0"/>
                </a:solidFill>
              </a:rPr>
              <a:t>In production, </a:t>
            </a:r>
            <a:br>
              <a:rPr lang="en-US" dirty="0"/>
            </a:br>
            <a:r>
              <a:rPr lang="en-US" dirty="0"/>
              <a:t>we restrict access paths, audit high-risk query patterns, monitor large-result queries, and alert in near real time on sensitive access.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C186A9C4-BABA-7111-5E4A-9BF0B58213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03090"/>
              </p:ext>
            </p:extLst>
          </p:nvPr>
        </p:nvGraphicFramePr>
        <p:xfrm>
          <a:off x="846306" y="3156949"/>
          <a:ext cx="7840494" cy="2560320"/>
        </p:xfrm>
        <a:graphic>
          <a:graphicData uri="http://schemas.openxmlformats.org/drawingml/2006/table">
            <a:tbl>
              <a:tblPr/>
              <a:tblGrid>
                <a:gridCol w="3920247">
                  <a:extLst>
                    <a:ext uri="{9D8B030D-6E8A-4147-A177-3AD203B41FA5}">
                      <a16:colId xmlns:a16="http://schemas.microsoft.com/office/drawing/2014/main" val="271906623"/>
                    </a:ext>
                  </a:extLst>
                </a:gridCol>
                <a:gridCol w="3920247">
                  <a:extLst>
                    <a:ext uri="{9D8B030D-6E8A-4147-A177-3AD203B41FA5}">
                      <a16:colId xmlns:a16="http://schemas.microsoft.com/office/drawing/2014/main" val="1536580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u="sng" dirty="0">
                          <a:solidFill>
                            <a:srgbClr val="FF0000"/>
                          </a:solidFill>
                        </a:rPr>
                        <a:t>Risk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u="sng" dirty="0">
                          <a:solidFill>
                            <a:srgbClr val="FF0000"/>
                          </a:solidFill>
                        </a:rPr>
                        <a:t>Control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259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Dev/QA leakage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Static masking (done)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3814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PROD mass extract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Row-count &amp; pattern auditing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8016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Unauthorized export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Restricted bulk features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737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Business misuse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Views + no table access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69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Power BI export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Tenant-level export controls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7037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External sharing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Policy +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774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582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290AF21-6BFB-CB47-0AC2-0B82614A43A1}"/>
              </a:ext>
            </a:extLst>
          </p:cNvPr>
          <p:cNvSpPr txBox="1"/>
          <p:nvPr/>
        </p:nvSpPr>
        <p:spPr>
          <a:xfrm>
            <a:off x="1536969" y="296853"/>
            <a:ext cx="71790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Row-Level Security (RLS)</a:t>
            </a:r>
            <a:r>
              <a:rPr lang="en-US" dirty="0"/>
              <a:t>  and </a:t>
            </a:r>
            <a:r>
              <a:rPr lang="en-US" b="1" dirty="0"/>
              <a:t>Row-Level Security (Not yet implemented)</a:t>
            </a:r>
          </a:p>
          <a:p>
            <a:endParaRPr lang="en-US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1D4F02-15D9-8CFC-F00F-0274F285BED5}"/>
              </a:ext>
            </a:extLst>
          </p:cNvPr>
          <p:cNvSpPr txBox="1"/>
          <p:nvPr/>
        </p:nvSpPr>
        <p:spPr>
          <a:xfrm>
            <a:off x="690663" y="666185"/>
            <a:ext cx="767512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🔐 Encryption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Planned enhancement (Phase 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Implementation requires coordinated testing (HA/DR, backups, applications)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System is Currently protected by RBAC, masking, and audit monitoring</a:t>
            </a:r>
          </a:p>
          <a:p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🔑 Row-Level Security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Planned enhancement (Phase 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Awaiting finalized HR facility/user mappings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Current controls: views, role separation, reporting-layer filters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Encryption and Row-Level Security are </a:t>
            </a:r>
            <a:r>
              <a:rPr lang="en-US" dirty="0"/>
              <a:t>known and tracked enhancement, not an unmanaged gap.</a:t>
            </a:r>
            <a:br>
              <a:rPr lang="en-US" dirty="0"/>
            </a:br>
            <a:r>
              <a:rPr lang="en-US" dirty="0"/>
              <a:t>Compensating controls are in place, and implementation is scheduled once prerequisites are validated.”</a:t>
            </a:r>
          </a:p>
        </p:txBody>
      </p:sp>
    </p:spTree>
    <p:extLst>
      <p:ext uri="{BB962C8B-B14F-4D97-AF65-F5344CB8AC3E}">
        <p14:creationId xmlns:p14="http://schemas.microsoft.com/office/powerpoint/2010/main" val="159869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656</Words>
  <Application>Microsoft Office PowerPoint</Application>
  <PresentationFormat>Affichage à l'écran (4:3)</PresentationFormat>
  <Paragraphs>100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HR Data Protection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serge tchuenteu</dc:creator>
  <cp:keywords/>
  <dc:description>generated using python-pptx</dc:description>
  <cp:lastModifiedBy>serge tchuenteu</cp:lastModifiedBy>
  <cp:revision>2</cp:revision>
  <dcterms:created xsi:type="dcterms:W3CDTF">2013-01-27T09:14:16Z</dcterms:created>
  <dcterms:modified xsi:type="dcterms:W3CDTF">2026-01-25T03:28:18Z</dcterms:modified>
  <cp:category/>
</cp:coreProperties>
</file>