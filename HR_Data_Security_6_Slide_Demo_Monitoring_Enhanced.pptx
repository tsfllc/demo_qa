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7070" autoAdjust="0"/>
  </p:normalViewPr>
  <p:slideViewPr>
    <p:cSldViewPr snapToGrid="0" snapToObjects="1">
      <p:cViewPr varScale="1">
        <p:scale>
          <a:sx n="66" d="100"/>
          <a:sy n="66" d="100"/>
        </p:scale>
        <p:origin x="2904" y="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8641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“We start from the principle that HR data is high-risk by default, so protection is enforced directly at the database layer. There is no default or open access.</a:t>
            </a:r>
          </a:p>
          <a:p>
            <a:pPr>
              <a:buNone/>
            </a:pPr>
            <a:r>
              <a:rPr lang="en-US" dirty="0"/>
              <a:t>From an access perspective, we’ve already established the foundation by creating Active Directory groups for each team. These groups align access to job function and will directly support full Role-Based Access Control.</a:t>
            </a:r>
          </a:p>
          <a:p>
            <a:pPr>
              <a:buNone/>
            </a:pPr>
            <a:r>
              <a:rPr lang="en-US" dirty="0"/>
              <a:t>RBAC is currently being implemented, starting in our DEV and QA environments, and we’re being transparent about that.”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have started the foundation for Role-Based Access Control by creating Active Directory groups for each team.</a:t>
            </a:r>
          </a:p>
          <a:p>
            <a:r>
              <a:t>These AD groups are already in use and will directly support RBAC.</a:t>
            </a:r>
          </a:p>
          <a:p>
            <a:r>
              <a:t>Full RBAC enforcement is currently in progress and is being implemented first in DEV and QA environments.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HR data is protected differently by environment.</a:t>
            </a:r>
          </a:p>
          <a:p>
            <a:r>
              <a:t>In DEV and QA, we use static masking so real HR data does not exist.</a:t>
            </a:r>
          </a:p>
          <a:p>
            <a:r>
              <a:t>We also added a trigger that automatically masks any new HR data inserted into DEV.</a:t>
            </a:r>
          </a:p>
          <a:p>
            <a:r>
              <a:t>In PROD, dynamic masking ensures users only see what they are authorized to see.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HR data access is continuously monitored.</a:t>
            </a:r>
          </a:p>
          <a:p>
            <a:r>
              <a:t>We generate a daily report that shows who accessed PHI, when it happened, and the type of access performed.</a:t>
            </a:r>
          </a:p>
          <a:p>
            <a:endParaRPr/>
          </a:p>
          <a:p>
            <a:r>
              <a:t>In addition to daily review, we also have near real-time alerts. If a query uses sensitive WHERE-clause conditions such as SSN, date of birth, or employee identifiers, an alert is triggered immediately.</a:t>
            </a:r>
          </a:p>
          <a:p>
            <a:endParaRPr/>
          </a:p>
          <a:p>
            <a:r>
              <a:t>This allows us to respond quickly and investigate potential issues, rather than discovering them after the 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Today, HR data is protected with masking, auditing, and controlled access foundations.</a:t>
            </a:r>
          </a:p>
          <a:p>
            <a:r>
              <a:t>RBAC and row-level security are actively being expanded, starting in DEV and QA.</a:t>
            </a:r>
          </a:p>
          <a:p>
            <a:r>
              <a:t>Our approach ensures HR data is protected today and continuously improved over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diagram shows how HR data is protected automatically in DEV.</a:t>
            </a:r>
          </a:p>
          <a:p>
            <a:r>
              <a:t>When HR data is inserted, a database trigger immediately executes.</a:t>
            </a:r>
          </a:p>
          <a:p>
            <a:r>
              <a:t>Sensitive fields are masked before the data is stored, eliminating any exposure window.</a:t>
            </a:r>
          </a:p>
          <a:p>
            <a:r>
              <a:t>This control removes reliance on manual processes and prevents human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4100" dirty="0">
                <a:solidFill>
                  <a:srgbClr val="FFFFFF"/>
                </a:solidFill>
              </a:rPr>
              <a:t>HR Data Protection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2700" b="1" dirty="0"/>
              <a:t>Security by Design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700" dirty="0"/>
              <a:t>HR data treated as high-risk by default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700" dirty="0"/>
              <a:t>Protection enforced at the database layer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700" dirty="0"/>
              <a:t>No default access</a:t>
            </a:r>
          </a:p>
          <a:p>
            <a:pPr>
              <a:lnSpc>
                <a:spcPct val="90000"/>
              </a:lnSpc>
              <a:buNone/>
            </a:pPr>
            <a:r>
              <a:rPr lang="en-US" sz="2700" b="1" dirty="0"/>
              <a:t>Access Foundation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700" dirty="0"/>
              <a:t>Team-based Active Directory (AD) groups created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700" dirty="0"/>
              <a:t>Access aligned to job function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700" dirty="0"/>
              <a:t>Foundation for RBAC (in progress in DEV &amp; QA)</a:t>
            </a:r>
          </a:p>
          <a:p>
            <a:pPr>
              <a:lnSpc>
                <a:spcPct val="90000"/>
              </a:lnSpc>
            </a:pPr>
            <a:endParaRPr lang="en-US" sz="2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en-US" sz="4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j-ea"/>
                <a:cs typeface="+mj-cs"/>
              </a:rPr>
              <a:t>HR Data Protection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90000"/>
              </a:lnSpc>
              <a:buNone/>
            </a:pPr>
            <a:r>
              <a:rPr lang="en-US" b="1" dirty="0"/>
              <a:t>Security by Design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HR data treated as high-risk by default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Protection enforced at the database layer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No default access</a:t>
            </a:r>
          </a:p>
          <a:p>
            <a:pPr>
              <a:lnSpc>
                <a:spcPct val="90000"/>
              </a:lnSpc>
              <a:buNone/>
            </a:pPr>
            <a:r>
              <a:rPr lang="en-US" b="1" dirty="0"/>
              <a:t>Access Foundation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Team-based Active Directory (AD) groups created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Access aligned to job function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Foundation for RBAC (in progress in DEV &amp; QA)</a:t>
            </a:r>
          </a:p>
          <a:p>
            <a:endParaRPr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B9B3EAC-B2D1-AFC6-8518-CC2953D5AD04}"/>
              </a:ext>
            </a:extLst>
          </p:cNvPr>
          <p:cNvSpPr txBox="1">
            <a:spLocks/>
          </p:cNvSpPr>
          <p:nvPr/>
        </p:nvSpPr>
        <p:spPr>
          <a:xfrm>
            <a:off x="515125" y="274638"/>
            <a:ext cx="799024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100" dirty="0">
                <a:solidFill>
                  <a:srgbClr val="FF0000"/>
                </a:solidFill>
              </a:rPr>
              <a:t>HR Data Protection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HR Data Is Never Exposed in Plain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DEV / QA: Static Masking</a:t>
            </a:r>
          </a:p>
          <a:p>
            <a:r>
              <a:t>• PROD: Dynamic Data Masking</a:t>
            </a:r>
          </a:p>
          <a:p>
            <a:r>
              <a:t>• DEV Trigger automatically masks new inserts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Same Data, Different Visibility — Actively Monitored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 PHI access is audited</a:t>
            </a:r>
          </a:p>
          <a:p>
            <a:r>
              <a:t>Daily PHI access review reports</a:t>
            </a:r>
          </a:p>
          <a:p>
            <a:r>
              <a:t>Real-time alerts for sensitive WHERE-clause queries</a:t>
            </a:r>
          </a:p>
        </p:txBody>
      </p:sp>
      <p:sp>
        <p:nvSpPr>
          <p:cNvPr id="4" name="Isosceles Triangle 3"/>
          <p:cNvSpPr/>
          <p:nvPr/>
        </p:nvSpPr>
        <p:spPr>
          <a:xfrm>
            <a:off x="5943600" y="1645920"/>
            <a:ext cx="640080" cy="640080"/>
          </a:xfrm>
          <a:prstGeom prst="triangl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HR Data Protection — Today &amp; Forward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RBAC enforced</a:t>
            </a:r>
          </a:p>
          <a:p>
            <a:r>
              <a:t>• Masking in all environments</a:t>
            </a:r>
          </a:p>
          <a:p>
            <a:r>
              <a:t>• Automatic protection for new DEV data</a:t>
            </a:r>
          </a:p>
          <a:p>
            <a:r>
              <a:t>• Full audit &amp; traceability</a:t>
            </a:r>
          </a:p>
          <a:p>
            <a:r>
              <a:t>• RLS expansion planned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Automatic HR Data Protection Flow (DEV)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27432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HR Data Inserted</a:t>
            </a:r>
          </a:p>
          <a:p>
            <a:r>
              <a:t>(DEV Environment)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1828800"/>
            <a:ext cx="27432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Trigger Executes</a:t>
            </a:r>
          </a:p>
          <a:p>
            <a:r>
              <a:t>(Auto Masking)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0" y="1828800"/>
            <a:ext cx="27432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Masked HR Data Stored</a:t>
            </a:r>
          </a:p>
          <a:p>
            <a:r>
              <a:t>(No Plain Text)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422</TotalTime>
  <Words>589</Words>
  <Application>Microsoft Office PowerPoint</Application>
  <PresentationFormat>Affichage à l'écran (4:3)</PresentationFormat>
  <Paragraphs>64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HR Data Protection</vt:lpstr>
      <vt:lpstr>HR Data Protection</vt:lpstr>
      <vt:lpstr>HR Data Is Never Exposed in Plain Text</vt:lpstr>
      <vt:lpstr>Same Data, Different Visibility — Actively Monitored</vt:lpstr>
      <vt:lpstr>HR Data Protection — Today &amp; Forward</vt:lpstr>
      <vt:lpstr>Automatic HR Data Protection Flow (DEV)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serge tchuenteu</dc:creator>
  <cp:keywords/>
  <dc:description>generated using python-pptx</dc:description>
  <cp:lastModifiedBy>serge tchuenteu</cp:lastModifiedBy>
  <cp:revision>2</cp:revision>
  <dcterms:created xsi:type="dcterms:W3CDTF">2013-01-27T09:14:16Z</dcterms:created>
  <dcterms:modified xsi:type="dcterms:W3CDTF">2026-01-23T14:40:15Z</dcterms:modified>
  <cp:category/>
</cp:coreProperties>
</file>